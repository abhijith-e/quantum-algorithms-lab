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1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178"/>
                </a:solidFill>
                <a:latin typeface="Arial"/>
              </a:rPr>
              <a:t>Routes to evaluate by city count (log scale)</a:t>
            </a:r>
          </a:p>
        </c:rich>
      </c:tx>
      <c:layout/>
      <c:overlay val="0"/>
    </c:title>
    <c:autoTitleDeleted val="0"/>
    <c:plotArea>
      <c:layout/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178"/>
                    </a:solidFill>
                    <a:latin typeface="Arial"/>
                  </a:rPr>
                  <a:t>Number of cities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1F2456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F2456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005840"/>
            <a:ext cx="822960" cy="822960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5" name="Image 0" descr="/home/claude/project/pptx/icons/atom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219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Travelling Salesman Problem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0/1 Knapsack Problem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Algorithms  →  QUBO / Ising Formulation  →  QAOA on Qiskit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1F2456"/>
          </a:solidFill>
          <a:ln w="12700">
            <a:solidFill>
              <a:srgbClr val="3A3F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88336" y="489204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1F2456"/>
          </a:solidFill>
          <a:ln w="12700">
            <a:solidFill>
              <a:srgbClr val="3A3F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88336" y="4892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outputs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53712" y="4892040"/>
            <a:ext cx="1787652" cy="384048"/>
          </a:xfrm>
          <a:prstGeom prst="roundRect">
            <a:avLst>
              <a:gd name="adj" fmla="val 50000"/>
            </a:avLst>
          </a:prstGeom>
          <a:solidFill>
            <a:srgbClr val="1F2456"/>
          </a:solidFill>
          <a:ln w="12700">
            <a:solidFill>
              <a:srgbClr val="3A3F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4892040"/>
            <a:ext cx="1787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charts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05956" y="489204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F2456"/>
          </a:solidFill>
          <a:ln w="12700">
            <a:solidFill>
              <a:srgbClr val="3A3F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5956" y="48920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Build-ready material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Qiskit 1.4  ·  qiskit-optimization 0.7  ·  qiskit-algorithms 0.4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Optimization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— TSP and Knapsack — are walked through the same nine-stage journey, connecting directly to later syllabus topics such as QAOA and Quantum Annealing.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130552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8" name="Image 0" descr="/home/claude/project/pptx/icons/ma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81" y="227795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24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9704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59752" y="2130552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13" name="Image 1" descr="/home/claude/project/pptx/icons/fileCod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153" y="227795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7992" y="2724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266176" y="2075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936224" y="2130552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18" name="Image 2" descr="/home/claude/project/pptx/icons/cog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625" y="227795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27249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354787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13232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383280" y="3712464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23" name="Image 3" descr="/home/claude/project/pptx/icons/listOl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81" y="3859865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43068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325112" y="354787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489704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159752" y="3712464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28" name="Image 4" descr="/home/claude/project/pptx/icons/bol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153" y="3859865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07992" y="43068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Classical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101584" y="354787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266176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10936224" y="3712464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33" name="Image 5" descr="/home/claude/project/pptx/icons/warning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3625" y="3859865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284464" y="43068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Classical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548640" y="512978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713232" y="5239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3383280" y="5294376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38" name="Image 6" descr="/home/claude/project/pptx/icons/diagram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681" y="5441777"/>
            <a:ext cx="272125" cy="2721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1520" y="58887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4325112" y="512978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4489704" y="5239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Shape 33"/>
          <p:cNvSpPr/>
          <p:nvPr/>
        </p:nvSpPr>
        <p:spPr>
          <a:xfrm>
            <a:off x="7159752" y="5294376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43" name="Image 7" descr="/home/claude/project/pptx/icons/atom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7153" y="5441777"/>
            <a:ext cx="272125" cy="27212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507992" y="58887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8101584" y="512978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8266176" y="5239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C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Shape 37"/>
          <p:cNvSpPr/>
          <p:nvPr/>
        </p:nvSpPr>
        <p:spPr>
          <a:xfrm>
            <a:off x="10936224" y="5294376"/>
            <a:ext cx="566928" cy="566928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48" name="Image 8" descr="/home/claude/project/pptx/icons/balanc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3625" y="5441777"/>
            <a:ext cx="272125" cy="272125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284464" y="58887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Practical Structure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875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Understand the real-world story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Write inputs and outputs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Draw the graph / table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Solve manually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Implement brute force in Python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Measure execution time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Implement a better classical algorithm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Compare the two classical methods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Introduce the quantum formulation (QUBO / Hamiltonian)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A5C7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Run a simple Qiskit QAOA example (simulator) and compare results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1F245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1F24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Travelling Salesman Problem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shortest route across 5 Karnataka cities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966960" y="2788920"/>
            <a:ext cx="1371600" cy="1371600"/>
          </a:xfrm>
          <a:prstGeom prst="ellipse">
            <a:avLst/>
          </a:prstGeom>
          <a:solidFill>
            <a:srgbClr val="1F2456"/>
          </a:solidFill>
          <a:ln/>
        </p:spPr>
      </p:sp>
      <p:pic>
        <p:nvPicPr>
          <p:cNvPr id="8" name="Image 0" descr="/home/claude/project/pptx/icons/rout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76" y="314553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— REAL-WORLD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Amazon Delivery Truck's Dilemma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visit Bangalore, Mysore, Mangalore, Hubli, and Belgaum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 must be visited exactly once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truck must return to its starting 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3F5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175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B3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route is the shortest?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434840"/>
            <a:ext cx="15544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995367"/>
            <a:ext cx="155448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to visit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4343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4434840"/>
            <a:ext cx="15544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4995367"/>
            <a:ext cx="155448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graph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43434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4434840"/>
            <a:ext cx="16459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97680" y="4995367"/>
            <a:ext cx="1645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orderings</a:t>
            </a:r>
            <a:endParaRPr lang="en-US" sz="1100" dirty="0"/>
          </a:p>
        </p:txBody>
      </p:sp>
      <p:pic>
        <p:nvPicPr>
          <p:cNvPr id="16" name="Image 0" descr="/home/claude/project/images/01_tsp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120640" cy="3840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4652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8"/>
                </a:solidFill>
              </a:rPr>
              <a:t>Distances shown are approximate road distances (km)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— WHY COMBINATORIAL OPTIMIZATION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Explode Combinatorially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cities, there are (n−1)!/2 distinct routes to check. Brute force guarantees the optimal answer — but only while n stays small.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202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20116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63840" y="2487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4 cities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9718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3063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6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3,628,800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63840" y="3538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10 cities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0233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41148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6.08 × 10¹⁷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3840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20 cities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50749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161A40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5074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optimization becomes difficult — and why we need smarter algorithms.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— STEP 1: BRUTE FORCE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Route, Keep the Best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2B3072"/>
          </a:solidFill>
          <a:ln/>
        </p:spPr>
      </p:sp>
      <p:pic>
        <p:nvPicPr>
          <p:cNvPr id="5" name="Image 0" descr="/home/claude/project/pptx/icons/listO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every possible route → calculate total distance → choose the minimum. Guarantees the optimal answer, but scales as O(n!).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6309360" cy="2286000"/>
          </a:xfrm>
          <a:prstGeom prst="roundRect">
            <a:avLst>
              <a:gd name="adj" fmla="val 2400"/>
            </a:avLst>
          </a:prstGeom>
          <a:solidFill>
            <a:srgbClr val="0D0F2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68880"/>
            <a:ext cx="5852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route in itertools.permutations(cities):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range(len(route) - 1):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get_distance(route[i], route[i+1])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get_distance(route[-1], route[0])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total &lt; best_cost: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best_cost = total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best_route = route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RESULT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5102352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E9F8F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1937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→ Mysore → Mangalore → Belgaum → Hubli → Bangalore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distance: 1,222 km    ·    24 routes checked    ·    0.06 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78040" y="233172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69480" y="24231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269480" y="31821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32520" y="233172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23960" y="24231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823960" y="31821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(km)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287000" y="2331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378440" y="2423160"/>
            <a:ext cx="1188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0378440" y="318211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78040" y="3840480"/>
            <a:ext cx="4480560" cy="2450592"/>
          </a:xfrm>
          <a:prstGeom prst="roundRect">
            <a:avLst>
              <a:gd name="adj" fmla="val 2985"/>
            </a:avLst>
          </a:prstGeom>
          <a:solidFill>
            <a:srgbClr val="161A40"/>
          </a:solidFill>
          <a:ln/>
        </p:spPr>
      </p:sp>
      <p:sp>
        <p:nvSpPr>
          <p:cNvPr id="23" name="Shape 20"/>
          <p:cNvSpPr/>
          <p:nvPr/>
        </p:nvSpPr>
        <p:spPr>
          <a:xfrm>
            <a:off x="7406640" y="4041648"/>
            <a:ext cx="457200" cy="457200"/>
          </a:xfrm>
          <a:prstGeom prst="ellipse">
            <a:avLst/>
          </a:prstGeom>
          <a:solidFill>
            <a:srgbClr val="1F2456"/>
          </a:solidFill>
          <a:ln/>
        </p:spPr>
      </p:sp>
      <p:pic>
        <p:nvPicPr>
          <p:cNvPr id="24" name="Image 1" descr="/home/claude/project/pptx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4160520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0100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 Optimal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406640" y="457200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always finds the true shortest route because it evaluates every possibility. The trade-off is speed: it becomes impossible beyond roughly 12–15 cities.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 — STEP 2: BETTER CLASSICAL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Neighbor Heuristic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every route, greedily move to the closest unvisited city at each step. Runs in O(n²) — dramatically faster, but not always optimal.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3611880"/>
          </a:xfrm>
          <a:prstGeom prst="roundRect">
            <a:avLst>
              <a:gd name="adj" fmla="val 2535"/>
            </a:avLst>
          </a:prstGeom>
          <a:solidFill>
            <a:srgbClr val="F3F5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(optimal)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1,222 km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→ Mysore → Mangalore → Belgaum → Hubli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 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77640" y="1920240"/>
            <a:ext cx="3246120" cy="3611880"/>
          </a:xfrm>
          <a:prstGeom prst="roundRect">
            <a:avLst>
              <a:gd name="adj" fmla="val 2535"/>
            </a:avLst>
          </a:prstGeom>
          <a:solidFill>
            <a:srgbClr val="FFF3E2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  (heuristic)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14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1,234 km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06240" y="31089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→ Mysore → Mangalore → Hubli → Belgaum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4251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— 7x faster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192024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0" y="2011680"/>
            <a:ext cx="178308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6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 km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80960" y="2969057"/>
            <a:ext cx="1783080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6920" y="192024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38360" y="2011680"/>
            <a:ext cx="18288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6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38360" y="2969057"/>
            <a:ext cx="1828800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optimal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3794760"/>
            <a:ext cx="4069080" cy="1737360"/>
          </a:xfrm>
          <a:prstGeom prst="roundRect">
            <a:avLst>
              <a:gd name="adj" fmla="val 4737"/>
            </a:avLst>
          </a:prstGeom>
          <a:solidFill>
            <a:srgbClr val="161A40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trade-off, in one 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18120" y="4343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near-instant heuristic sacrifices only 1% solution quality — a trade many real logistics systems happily accept at scale.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— STEP 3: QUANTUM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→ QUBO → Hamiltonian → QAOA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every route, we encode the optimization problem into a cost Hamiltonian and use a parameterized quantum circuit to search for good solutions. QAOA is a hybrid quantum-classical algorithm: the quantum computer prepares candidate solutions while a classical optimizer updates the circuit parameters.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project/pptx/icons/route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104" y="25511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25040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A5C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6208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home/claude/project/pptx/icons/netwo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55117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71928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102608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A5C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303776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/home/claude/project/pptx/icons/cubes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240" y="25511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9496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980176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A5C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181344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3" descr="/home/claude/project/pptx/icons/cogs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808" y="255117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27064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857744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A5C7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8058912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4" descr="/home/claude/project/pptx/icons/atom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551176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04632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735312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A5C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9936480" y="2423160"/>
            <a:ext cx="167640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26" name="Image 5" descr="/home/claude/project/pptx/icons/check_indi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944" y="2551176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982200" y="2953512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61A40"/>
          </a:solidFill>
          <a:ln/>
        </p:spPr>
      </p:sp>
      <p:sp>
        <p:nvSpPr>
          <p:cNvPr id="29" name="Shape 21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F2456"/>
          </a:solidFill>
          <a:ln/>
        </p:spPr>
      </p:sp>
      <p:pic>
        <p:nvPicPr>
          <p:cNvPr id="30" name="Image 6" descr="/home/claude/project/pptx/icons/warning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" y="4382719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2793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scaling reality worth teaching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50876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TSP QUBO encoding needs n² qubits for n cities. The full 5-city problem would need 25 qubits — too heavy for a live classroom simulation.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material uses a 4-city subset (16 qubits) for the live QAOA demo, while brute force and nearest neighbor use the full 5-city problem — this trade-off is itself worth discussing with students.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 — QAOA EXECUTION (QISKIT, SIMULATOR)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Solver vs QAOA on the 4-City Subset</a:t>
            </a:r>
            <a:endParaRPr lang="en-US" sz="3000" dirty="0"/>
          </a:p>
        </p:txBody>
      </p:sp>
      <p:pic>
        <p:nvPicPr>
          <p:cNvPr id="4" name="Image 0" descr="/home/claude/project/images/02_tsp_qaoa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675120" cy="25673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67554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258994"/>
            <a:ext cx="19659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4762828"/>
            <a:ext cx="1965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used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88920" y="4167554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80360" y="4258994"/>
            <a:ext cx="19659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1042 km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880360" y="4762828"/>
            <a:ext cx="1965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optimal cost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41675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4258994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A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120640" y="4762828"/>
            <a:ext cx="201168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terms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1417320"/>
            <a:ext cx="4160520" cy="4709160"/>
          </a:xfrm>
          <a:prstGeom prst="roundRect">
            <a:avLst>
              <a:gd name="adj" fmla="val 1978"/>
            </a:avLst>
          </a:prstGeom>
          <a:solidFill>
            <a:srgbClr val="FFF3E2"/>
          </a:solidFill>
          <a:ln/>
        </p:spPr>
      </p:sp>
      <p:sp>
        <p:nvSpPr>
          <p:cNvPr id="15" name="Shape 12"/>
          <p:cNvSpPr/>
          <p:nvPr/>
        </p:nvSpPr>
        <p:spPr>
          <a:xfrm>
            <a:off x="772668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claude/project/pptx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439" y="17766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667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Did Not Match the Exact Solution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726680" y="237744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run, QAOA's sampled bitstring did not decode into a valid Hamiltonian route — a common outcome with shallow circuit depth and limited optimizer iterations on a real (noisy) objective landscape.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expected, teachable behaviour: QAOA approximates, and quality depends heavily on circuit depth (p), shot count, and the classical optimizer's budget — not simply on “using a quantum computer.”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A.7 — STEP 4: COMPARE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— Four Methods, Side by Side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10312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COST (KM)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TIME (MS)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OPTIMAL?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178"/>
                          </a:solidFill>
                        </a:rPr>
                        <a:t>5 cities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1,222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8A5E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Nearest Neighbor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178"/>
                          </a:solidFill>
                        </a:rPr>
                        <a:t>5 cities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1,234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650A"/>
                          </a:solidFill>
                        </a:rPr>
                        <a:t>No (heuristic)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Exact Eigensolver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178"/>
                          </a:solidFill>
                        </a:rPr>
                        <a:t>4 cities (subset)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1,042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1,251.9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8A5E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QAOA (Quantum)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178"/>
                          </a:solidFill>
                        </a:rPr>
                        <a:t>4 cities (subset)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</a:rPr>
                        <a:t>N/A (infeasible)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64,028.6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Approximate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61A40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F2456"/>
          </a:solidFill>
          <a:ln/>
        </p:spPr>
      </p:sp>
      <p:pic>
        <p:nvPicPr>
          <p:cNvPr id="7" name="Image 0" descr="/home/claude/project/pptx/icons/balanc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470275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45902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algorithms are not “always faster”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8760" y="501091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promising for certain classes of optimization problems, but remain an active area of research — solution quality depends heavily on circuit depth, shots, and optimizer budget, not just “using a quantum computer.”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Practical Session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TSP &amp; Knapsack — Classical to Quantum Optimization</dc:title>
  <dc:subject>PptxGenJS Presentation</dc:subject>
  <dc:creator>Quantum Optimization Practical</dc:creator>
  <cp:lastModifiedBy>Quantum Optimization Practical</cp:lastModifiedBy>
  <cp:revision>1</cp:revision>
  <dcterms:created xsi:type="dcterms:W3CDTF">2026-07-01T04:39:04Z</dcterms:created>
  <dcterms:modified xsi:type="dcterms:W3CDTF">2026-07-01T04:39:04Z</dcterms:modified>
</cp:coreProperties>
</file>